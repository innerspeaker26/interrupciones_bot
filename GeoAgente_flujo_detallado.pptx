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principio de diseño es que el agente corra lo justo necesario. La app resuelve la ubicación llamando directamente a la tool de cruce espacial, sin gastar una llamada al modelo; el agente recibe la ubicación ya resuelta y solo consulta el detalle y redacta; y la app dibuja el mapa después de cada respuesta, también sin pasar por el modelo. Los guardarraíles se ejecutan siempre y validan contra la evidencia acumulada durante el turno.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GeoAgente de interrupciones de agua · Lima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funcionamiento: el agente hace lo mínimo —conversar y redactar—; todo lo que puede ser determinista corre fuera de él.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2240280" cy="4059936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76200" dist="12700" dir="5400000">
              <a:srgbClr val="0C4A6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53312"/>
            <a:ext cx="256032" cy="25603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13167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RESUELVE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DETERMINISTA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773936"/>
            <a:ext cx="1920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del ciudadano
</a:t>
            </a:r>
            <a:pPr indent="0" marL="0">
              <a:lnSpc>
                <a:spcPct val="94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del navegador, desplegable de distrito o clic sobre el mapa.
</a:t>
            </a:r>
            <a:pPr indent="0" marL="0">
              <a:lnSpc>
                <a:spcPct val="94000"/>
              </a:lnSpc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estructurado
</a:t>
            </a:r>
            <a:pPr indent="0" marL="0">
              <a:lnSpc>
                <a:spcPct val="94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extrae distrito y marca de caso vulnerable, por reglas.
</a:t>
            </a:r>
            <a:pPr indent="0" marL="0">
              <a:lnSpc>
                <a:spcPct val="94000"/>
              </a:lnSpc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espacial
</a:t>
            </a:r>
            <a:pPr indent="0" marL="0">
              <a:lnSpc>
                <a:spcPct val="94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GeoPandas: point-in-polygon contra las zonas afectadas. Sin gastar una llamada al modelo.
</a:t>
            </a:r>
            <a:pPr indent="0" marL="0">
              <a:lnSpc>
                <a:spcPct val="94000"/>
              </a:lnSpc>
              <a:buNone/>
            </a:pPr>
            <a:r>
              <a:rPr lang="en-US" sz="90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resultado se inyecta en el mensaje como [UBICACION YA RESUELTA: …]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207008"/>
            <a:ext cx="5897880" cy="4059936"/>
          </a:xfrm>
          <a:prstGeom prst="roundRect">
            <a:avLst>
              <a:gd name="adj" fmla="val 1126"/>
            </a:avLst>
          </a:prstGeom>
          <a:solidFill>
            <a:srgbClr val="F0FD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2112" y="1344168"/>
            <a:ext cx="256032" cy="256032"/>
          </a:xfrm>
          <a:prstGeom prst="ellipse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1344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11296" y="13258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DE ORQUESTACIÓN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1344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deepagents · LangGraph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0" y="1591056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decide qué tool llamar  →  la tool se ejecuta  →  el resultado vuelve al modelo  →  repite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18688" y="1920240"/>
            <a:ext cx="24963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76200" dist="12700" dir="5400000">
              <a:srgbClr val="0C4A6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64992" y="207568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202996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LENGUAJE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64992" y="2267712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pPr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API, o gemma-4-e2b local en LM Studio: se elige con una variable del .env.
</a:t>
            </a:r>
            <a:pPr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</a:t>
            </a:r>
            <a:pPr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para que no improvise los argumentos de las tools.
</a:t>
            </a:r>
            <a:pPr indent="0" marL="0">
              <a:lnSpc>
                <a:spcPct val="94000"/>
              </a:lnSpc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calcula ni filtra: solo conversa y redacta.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24963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76200" dist="12700" dir="5400000">
              <a:srgbClr val="0C4A6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64224" y="207568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47104" y="202996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 (6)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64224" y="2267712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 </a:t>
            </a:r>
            <a:pPr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coordenadas (sjoin) o por distrito (tolera tildes y erratas).
</a:t>
            </a:r>
            <a:pPr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 </a:t>
            </a:r>
            <a:pPr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imprevistas y programadas —en curso y por empezar— y cisternas.
</a:t>
            </a:r>
            <a:pPr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 </a:t>
            </a:r>
            <a:pPr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Lima y Callao, sin necesitar ubicación.
</a:t>
            </a:r>
            <a:pPr indent="0" marL="0">
              <a:lnSpc>
                <a:spcPct val="94000"/>
              </a:lnSpc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 ubicar dejan las filas en la sesión; las de detalle las leen: el orden importa.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18688" y="3602736"/>
            <a:ext cx="24963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76200" dist="12700" dir="5400000">
              <a:srgbClr val="0C4A6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64992" y="3758184"/>
            <a:ext cx="109728" cy="109728"/>
          </a:xfrm>
          <a:prstGeom prst="ellipse">
            <a:avLst/>
          </a:prstGeom>
          <a:solidFill>
            <a:srgbClr val="E6550D"/>
          </a:solidFill>
          <a:ln w="12700">
            <a:solidFill>
              <a:srgbClr val="E6550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3712464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Y CONTEXTO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64992" y="3950208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</a:t>
            </a:r>
            <a:pPr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el agente y sus límites duros —solo usar lo que devuelven las tools—.
</a:t>
            </a:r>
            <a:pPr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SKILL.md: </a:t>
            </a:r>
            <a:pPr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procedimiento de atención, en qué orden llamar las tools y cómo redactar.
</a:t>
            </a:r>
            <a:pPr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turno: </a:t>
            </a:r>
            <a:pPr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ubicación ya resuelta por la app.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0" y="3602736"/>
            <a:ext cx="24963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76200" dist="12700" dir="5400000">
              <a:srgbClr val="0C4A6E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64224" y="3758184"/>
            <a:ext cx="109728" cy="109728"/>
          </a:xfrm>
          <a:prstGeom prst="ellipse">
            <a:avLst/>
          </a:prstGeom>
          <a:solidFill>
            <a:srgbClr val="E6550D"/>
          </a:solidFill>
          <a:ln w="12700">
            <a:solidFill>
              <a:srgbClr val="E6550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47104" y="3712464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64224" y="3950208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InMemorySaver</a:t>
            </a:r>
            <a:pPr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checkpointer de LangGraph: guarda la conversación del turno anterior.
</a:t>
            </a:r>
            <a:pPr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thread_id por sesión</a:t>
            </a:r>
            <a:pPr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navegador; «Nueva consulta» abre uno en blanco.
</a:t>
            </a:r>
            <a:pPr indent="0" marL="0">
              <a:lnSpc>
                <a:spcPct val="94000"/>
              </a:lnSpc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preguntar «¿y hay cisternas?» sin repetir dónde vive.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60720" y="2423160"/>
            <a:ext cx="411480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760720" y="2788920"/>
            <a:ext cx="411480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headEnd type="triangle"/>
          </a:ln>
        </p:spPr>
      </p:sp>
      <p:sp>
        <p:nvSpPr>
          <p:cNvPr id="33" name="Shape 31"/>
          <p:cNvSpPr/>
          <p:nvPr/>
        </p:nvSpPr>
        <p:spPr>
          <a:xfrm>
            <a:off x="4466844" y="3319272"/>
            <a:ext cx="0" cy="256032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7466076" y="3319272"/>
            <a:ext cx="0" cy="256032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headEnd type="triangle"/>
          </a:ln>
        </p:spPr>
      </p:sp>
      <p:sp>
        <p:nvSpPr>
          <p:cNvPr id="35" name="Shape 33"/>
          <p:cNvSpPr/>
          <p:nvPr/>
        </p:nvSpPr>
        <p:spPr>
          <a:xfrm>
            <a:off x="9281160" y="1207008"/>
            <a:ext cx="2468880" cy="4059936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76200" dist="12700" dir="5400000">
              <a:srgbClr val="0C4A6E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436608" y="1353312"/>
            <a:ext cx="256032" cy="256032"/>
          </a:xfrm>
          <a:prstGeom prst="ellipse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36608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765792" y="13167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SALIDA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436608" y="1773936"/>
            <a:ext cx="215798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950" b="1" dirty="0">
                <a:solidFill>
                  <a:srgbClr val="D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Guardarraíles
</a:t>
            </a:r>
            <a:pPr indent="0" marL="0">
              <a:lnSpc>
                <a:spcPct val="94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determinista que corre siempre sobre la respuesta, contrastándola contra la evidencia: el texto exacto que devolvieron las tools del turno.
</a:t>
            </a:r>
            <a:pPr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D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94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si afirma algo del servicio sin haber consultado ninguna tool.
</a:t>
            </a:r>
            <a:pPr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D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94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teléfonos que no son el oficial.
</a:t>
            </a:r>
            <a:pPr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E65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94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fechas u horas ausentes en la evidencia.
</a:t>
            </a:r>
            <a:pPr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E65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94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el cierre y la atención al caso vulnerable.
</a:t>
            </a:r>
            <a:pPr indent="0" marL="0">
              <a:lnSpc>
                <a:spcPct val="94000"/>
              </a:lnSpc>
              <a:buNone/>
            </a:pPr>
            <a:r>
              <a:rPr lang="en-US" sz="90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Respuesta al ciudadano y mapa dibujado por la app, no por el modelo.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688336" y="3236976"/>
            <a:ext cx="292608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951976" y="3236976"/>
            <a:ext cx="292608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11480" y="5504688"/>
            <a:ext cx="11338560" cy="713232"/>
          </a:xfrm>
          <a:prstGeom prst="roundRect">
            <a:avLst>
              <a:gd name="adj" fmla="val 641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55869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AGENTE · Pipeline de datos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1792" y="58521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Survey123 SUNASS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descarga filtrada en el servidor cada 15 min (vigentes + último mes)  →  </a:t>
            </a:r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preparar_datos.py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parquet limpio  →  </a:t>
            </a:r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la app relee la base cada 15 min, sin reiniciarse.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2026-08-25T21:09:45Z</dcterms:created>
  <dcterms:modified xsi:type="dcterms:W3CDTF">2026-08-25T21:09:45Z</dcterms:modified>
</cp:coreProperties>
</file>